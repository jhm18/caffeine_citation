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138" y="2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23CA69-F253-46AA-B731-187EAFC74C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EF66CE4-29C9-C478-7076-56831791A8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923DDC-1A12-6F69-F030-86A1825DD8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44F25-0CD6-41AA-AE84-F648FAED6F5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0D58BD-14A2-329B-9BC3-225A646BB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5982E6-7027-624D-EF2B-F632ECAC03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06E38-D7C5-4576-8DBF-AB5E91FEF5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36504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1E753A-5537-FB77-56EE-2D8A87BFDB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AE6283-45AE-FCD5-E4CC-62BE33BB38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3BF0D1-4966-8EB8-9F59-6CFC66A07F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44F25-0CD6-41AA-AE84-F648FAED6F5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F21C5A-C684-2FBB-D6CC-F89CFCAB62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A4A54E-E4A8-2CA4-CEBF-D81DBA72F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06E38-D7C5-4576-8DBF-AB5E91FEF5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57098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C58230-EC2A-84CC-6CF4-8DB75606C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DE283E-FDB5-A7B4-A4CC-803BFB14C3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DE1919-A523-F762-6426-4B80CC463B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44F25-0CD6-41AA-AE84-F648FAED6F5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111040-48A6-8EBE-B284-070BC1B962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502DA6-365A-D8A9-1D5B-36E4C8DB0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06E38-D7C5-4576-8DBF-AB5E91FEF5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65405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FBF43C-30D6-A0CF-7168-90F69014B7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64710F-833E-10B8-57FA-5ABD4355E1F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9C787E-021F-5234-0513-867E871144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F1E87F-B747-17A9-8DA0-2EC31C51D1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44F25-0CD6-41AA-AE84-F648FAED6F5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EAC00F-810A-CF97-0FD5-5747DA46DC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36536B-6AFC-2F87-6A5E-B228C45967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06E38-D7C5-4576-8DBF-AB5E91FEF5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05573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529D97-A204-80EE-9A1C-1AA381F46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20AEDA-83CD-6581-AA0B-3C5E9653E9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368EAB-034E-BB83-F9EB-2B7B2709B6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A4DCB1D-022D-6D4A-EAF5-01B6D370E68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6036EB9-552C-F3B5-4272-2E1FD86DFAC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98F4A05-F27F-77CE-8731-CC22D26C11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44F25-0CD6-41AA-AE84-F648FAED6F5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AA89DCB-0CF0-48A1-843D-603D82973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5B78D0C-5C55-591D-22C2-E2F7D416A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06E38-D7C5-4576-8DBF-AB5E91FEF5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4770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A07E88-1357-FF32-4CE7-4405BCAD6F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FE19543-B9DD-43CE-AE56-1CFAC774FE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44F25-0CD6-41AA-AE84-F648FAED6F5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C86BF10-3C11-3A2F-F0F2-E3F64328D3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DC9DE9-F72A-8D7F-D3F0-A382A33615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06E38-D7C5-4576-8DBF-AB5E91FEF5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06926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E1AB231-C402-E1BE-CB02-42BEDCAEAC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44F25-0CD6-41AA-AE84-F648FAED6F5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82805FE-E4F2-D6A1-A002-D3F311A463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7EC57C-E91E-6177-6C03-0C93FF8937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06E38-D7C5-4576-8DBF-AB5E91FEF5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20537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348563-3132-1B99-190A-E54C6EF75A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3C446F-F71B-8CAF-3BED-EC0A937BF8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8156BD-F4CF-8A0B-30BF-0408E46155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7D79C8-BDF9-8B65-C704-D341A9BDC2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44F25-0CD6-41AA-AE84-F648FAED6F5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1B507B-80C5-85B8-FB88-CD358B65B0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02DFEC-6BA5-B68E-CB43-A9C30CAD4F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06E38-D7C5-4576-8DBF-AB5E91FEF5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11655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C3A15E-9447-EE3C-2F17-3140F7373B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2660C49-DA06-0CC9-E9F8-9448BFDF55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1C790B-D549-69AD-55D4-8467F07D2B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3DE5A7-847A-0B96-79DF-EABD55DA3E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44F25-0CD6-41AA-AE84-F648FAED6F5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DD6DD9-E175-2D8C-1D8F-6CB8D09329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E33D64-5222-4419-F7C0-CEC6F00451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06E38-D7C5-4576-8DBF-AB5E91FEF5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89652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79D1A7-65FC-7099-ED4F-E3146CEFCA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F0362A-7910-B2F4-AED3-A098499B1E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FE32CF-4C0D-8E30-9B48-D9D6D3381D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44F25-0CD6-41AA-AE84-F648FAED6F5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260D83-D61F-6A3B-276B-494B13D79C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D034EE-E898-3390-B6A5-1CAE8C218D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06E38-D7C5-4576-8DBF-AB5E91FEF5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13638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B66244F-8394-62DA-F752-5B0C20DAF1E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B4AC8D-30D8-CEC8-120A-484CB8551E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09E455-891E-34D0-D56F-AA6ACFD92E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44F25-0CD6-41AA-AE84-F648FAED6F5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6F3D21-957F-DF10-9020-ED93F114DD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D42AB6-AD0B-83B5-8283-3BCE199505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06E38-D7C5-4576-8DBF-AB5E91FEF5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19347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2EF6492-DC15-D41D-601E-991F6D138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53F1FE-736F-070E-F9E5-2135D1156A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A63908-08A4-E784-DBF9-6C28E203CD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644F25-0CD6-41AA-AE84-F648FAED6F5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539DB0-05FD-016E-E161-DF4CB6ECE8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F99080-D60F-1A4E-7EED-91E2A9EEB3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C06E38-D7C5-4576-8DBF-AB5E91FEF5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00735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AFAA75E9-C965-8823-6092-AD01C0C137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4049" y="243931"/>
            <a:ext cx="9583901" cy="6370138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0A5EF06C-3AE6-FF28-9B8B-611ED0B02A42}"/>
              </a:ext>
            </a:extLst>
          </p:cNvPr>
          <p:cNvSpPr txBox="1"/>
          <p:nvPr/>
        </p:nvSpPr>
        <p:spPr>
          <a:xfrm>
            <a:off x="9302620" y="65080"/>
            <a:ext cx="2882798" cy="5847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Effects of Caffeine on Human Physiology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8C802E91-28A7-B6DC-EEE4-306C7D86565E}"/>
              </a:ext>
            </a:extLst>
          </p:cNvPr>
          <p:cNvCxnSpPr>
            <a:cxnSpLocks/>
            <a:stCxn id="21" idx="2"/>
          </p:cNvCxnSpPr>
          <p:nvPr/>
        </p:nvCxnSpPr>
        <p:spPr>
          <a:xfrm>
            <a:off x="11140709" y="2373034"/>
            <a:ext cx="32678" cy="2111933"/>
          </a:xfrm>
          <a:prstGeom prst="straightConnector1">
            <a:avLst/>
          </a:prstGeom>
          <a:ln w="1905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2994A5A7-E5E1-A8E3-8519-FE9FE487C51E}"/>
              </a:ext>
            </a:extLst>
          </p:cNvPr>
          <p:cNvSpPr txBox="1"/>
          <p:nvPr/>
        </p:nvSpPr>
        <p:spPr>
          <a:xfrm>
            <a:off x="10096000" y="1788259"/>
            <a:ext cx="2089418" cy="5847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1600" dirty="0"/>
              <a:t>Caffeine’s Impact on </a:t>
            </a:r>
          </a:p>
          <a:p>
            <a:pPr algn="ctr"/>
            <a:r>
              <a:rPr lang="en-US" sz="1600" dirty="0"/>
              <a:t>Cognition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E4BE42D-5392-B791-D937-2E1F6B7372DA}"/>
              </a:ext>
            </a:extLst>
          </p:cNvPr>
          <p:cNvSpPr txBox="1"/>
          <p:nvPr/>
        </p:nvSpPr>
        <p:spPr>
          <a:xfrm>
            <a:off x="10097058" y="4484967"/>
            <a:ext cx="2087302" cy="8309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1600" dirty="0"/>
              <a:t>Caffeine’s Impact</a:t>
            </a:r>
          </a:p>
          <a:p>
            <a:pPr algn="ctr"/>
            <a:r>
              <a:rPr lang="en-US" sz="1600" dirty="0"/>
              <a:t> on Health &amp; </a:t>
            </a:r>
          </a:p>
          <a:p>
            <a:pPr algn="ctr"/>
            <a:r>
              <a:rPr lang="en-US" sz="1600" dirty="0"/>
              <a:t>Human Performance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F2A20B3-E125-4178-870B-29FD450F1C44}"/>
              </a:ext>
            </a:extLst>
          </p:cNvPr>
          <p:cNvSpPr txBox="1"/>
          <p:nvPr/>
        </p:nvSpPr>
        <p:spPr>
          <a:xfrm>
            <a:off x="7504839" y="6205005"/>
            <a:ext cx="3010761" cy="5847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1600" dirty="0"/>
              <a:t>Population Health &amp;</a:t>
            </a:r>
          </a:p>
          <a:p>
            <a:pPr algn="ctr"/>
            <a:r>
              <a:rPr lang="en-US" sz="1600" dirty="0"/>
              <a:t>Pharmaceutical Contamination</a:t>
            </a:r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37192D67-2B78-A58B-9F84-62D6791E3AEC}"/>
              </a:ext>
            </a:extLst>
          </p:cNvPr>
          <p:cNvSpPr/>
          <p:nvPr/>
        </p:nvSpPr>
        <p:spPr>
          <a:xfrm>
            <a:off x="10515600" y="5337109"/>
            <a:ext cx="663349" cy="1194319"/>
          </a:xfrm>
          <a:custGeom>
            <a:avLst/>
            <a:gdLst>
              <a:gd name="csX0" fmla="*/ 653143 w 663349"/>
              <a:gd name="csY0" fmla="*/ 0 h 979714"/>
              <a:gd name="csX1" fmla="*/ 643812 w 663349"/>
              <a:gd name="csY1" fmla="*/ 382555 h 979714"/>
              <a:gd name="csX2" fmla="*/ 475861 w 663349"/>
              <a:gd name="csY2" fmla="*/ 690466 h 979714"/>
              <a:gd name="csX3" fmla="*/ 0 w 663349"/>
              <a:gd name="csY3" fmla="*/ 979714 h 97971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663349" h="979714">
                <a:moveTo>
                  <a:pt x="653143" y="0"/>
                </a:moveTo>
                <a:cubicBezTo>
                  <a:pt x="663251" y="133738"/>
                  <a:pt x="673359" y="267477"/>
                  <a:pt x="643812" y="382555"/>
                </a:cubicBezTo>
                <a:cubicBezTo>
                  <a:pt x="614265" y="497633"/>
                  <a:pt x="583163" y="590940"/>
                  <a:pt x="475861" y="690466"/>
                </a:cubicBezTo>
                <a:cubicBezTo>
                  <a:pt x="368559" y="789992"/>
                  <a:pt x="76200" y="934616"/>
                  <a:pt x="0" y="979714"/>
                </a:cubicBezTo>
              </a:path>
            </a:pathLst>
          </a:custGeom>
          <a:noFill/>
          <a:ln w="19050">
            <a:tailEnd type="stealth" w="lg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3A2E1170-79FF-6087-159C-C1019DD6194F}"/>
              </a:ext>
            </a:extLst>
          </p:cNvPr>
          <p:cNvSpPr/>
          <p:nvPr/>
        </p:nvSpPr>
        <p:spPr>
          <a:xfrm>
            <a:off x="933061" y="5447893"/>
            <a:ext cx="6571778" cy="1254032"/>
          </a:xfrm>
          <a:custGeom>
            <a:avLst/>
            <a:gdLst>
              <a:gd name="csX0" fmla="*/ 6736702 w 6736702"/>
              <a:gd name="csY0" fmla="*/ 970383 h 1078321"/>
              <a:gd name="csX1" fmla="*/ 1604865 w 6736702"/>
              <a:gd name="csY1" fmla="*/ 989045 h 1078321"/>
              <a:gd name="csX2" fmla="*/ 0 w 6736702"/>
              <a:gd name="csY2" fmla="*/ 0 h 107832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6736702" h="1078321">
                <a:moveTo>
                  <a:pt x="6736702" y="970383"/>
                </a:moveTo>
                <a:cubicBezTo>
                  <a:pt x="4732175" y="1060579"/>
                  <a:pt x="2727649" y="1150775"/>
                  <a:pt x="1604865" y="989045"/>
                </a:cubicBezTo>
                <a:cubicBezTo>
                  <a:pt x="482081" y="827315"/>
                  <a:pt x="241040" y="413657"/>
                  <a:pt x="0" y="0"/>
                </a:cubicBezTo>
              </a:path>
            </a:pathLst>
          </a:custGeom>
          <a:noFill/>
          <a:ln w="19050">
            <a:tailEnd type="stealth" w="lg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CCD5DCE-7CB5-704F-302E-70DA7393F4FE}"/>
              </a:ext>
            </a:extLst>
          </p:cNvPr>
          <p:cNvSpPr txBox="1"/>
          <p:nvPr/>
        </p:nvSpPr>
        <p:spPr>
          <a:xfrm>
            <a:off x="52690" y="4863117"/>
            <a:ext cx="2007281" cy="584775"/>
          </a:xfrm>
          <a:prstGeom prst="rect">
            <a:avLst/>
          </a:prstGeom>
          <a:noFill/>
          <a:ln>
            <a:solidFill>
              <a:schemeClr val="accent1">
                <a:shade val="1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sz="1600" dirty="0"/>
              <a:t>Pharmacokinetics &amp;</a:t>
            </a:r>
          </a:p>
          <a:p>
            <a:r>
              <a:rPr lang="en-US" sz="1600" dirty="0"/>
              <a:t>Drug Metabolism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A927ED1-7066-24D2-6EF8-FF3ACF7FADBA}"/>
              </a:ext>
            </a:extLst>
          </p:cNvPr>
          <p:cNvSpPr txBox="1"/>
          <p:nvPr/>
        </p:nvSpPr>
        <p:spPr>
          <a:xfrm>
            <a:off x="2141688" y="65080"/>
            <a:ext cx="1133644" cy="584775"/>
          </a:xfrm>
          <a:prstGeom prst="rect">
            <a:avLst/>
          </a:prstGeom>
          <a:noFill/>
          <a:ln>
            <a:solidFill>
              <a:schemeClr val="accent1">
                <a:shade val="15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1600" dirty="0"/>
              <a:t>Metabolic </a:t>
            </a:r>
          </a:p>
          <a:p>
            <a:pPr algn="ctr"/>
            <a:r>
              <a:rPr lang="en-US" sz="1600" dirty="0"/>
              <a:t>Genomics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75FEA2C-B753-BFCB-4F63-353D19542FFE}"/>
              </a:ext>
            </a:extLst>
          </p:cNvPr>
          <p:cNvSpPr txBox="1"/>
          <p:nvPr/>
        </p:nvSpPr>
        <p:spPr>
          <a:xfrm>
            <a:off x="177282" y="2822345"/>
            <a:ext cx="1314784" cy="584775"/>
          </a:xfrm>
          <a:prstGeom prst="rect">
            <a:avLst/>
          </a:prstGeom>
          <a:noFill/>
          <a:ln>
            <a:solidFill>
              <a:schemeClr val="accent1">
                <a:shade val="15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1600" dirty="0"/>
              <a:t>Bioactive </a:t>
            </a:r>
          </a:p>
          <a:p>
            <a:pPr algn="ctr"/>
            <a:r>
              <a:rPr lang="en-US" sz="1600" dirty="0"/>
              <a:t>Compounds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69EA0F1F-C666-6B6B-14A7-9C0783C16C38}"/>
              </a:ext>
            </a:extLst>
          </p:cNvPr>
          <p:cNvCxnSpPr>
            <a:stCxn id="33" idx="0"/>
          </p:cNvCxnSpPr>
          <p:nvPr/>
        </p:nvCxnSpPr>
        <p:spPr>
          <a:xfrm flipH="1" flipV="1">
            <a:off x="1013049" y="3429000"/>
            <a:ext cx="43282" cy="1434117"/>
          </a:xfrm>
          <a:prstGeom prst="straightConnector1">
            <a:avLst/>
          </a:prstGeom>
          <a:ln w="1905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0DFEB8AE-912C-DA5A-93D5-0762B2861AD2}"/>
              </a:ext>
            </a:extLst>
          </p:cNvPr>
          <p:cNvSpPr/>
          <p:nvPr/>
        </p:nvSpPr>
        <p:spPr>
          <a:xfrm>
            <a:off x="1044628" y="332702"/>
            <a:ext cx="1092082" cy="2447820"/>
          </a:xfrm>
          <a:custGeom>
            <a:avLst/>
            <a:gdLst>
              <a:gd name="csX0" fmla="*/ 401 w 1092082"/>
              <a:gd name="csY0" fmla="*/ 2447820 h 2447820"/>
              <a:gd name="csX1" fmla="*/ 9731 w 1092082"/>
              <a:gd name="csY1" fmla="*/ 1804008 h 2447820"/>
              <a:gd name="csX2" fmla="*/ 65715 w 1092082"/>
              <a:gd name="csY2" fmla="*/ 1374800 h 2447820"/>
              <a:gd name="csX3" fmla="*/ 224335 w 1092082"/>
              <a:gd name="csY3" fmla="*/ 768310 h 2447820"/>
              <a:gd name="csX4" fmla="*/ 466931 w 1092082"/>
              <a:gd name="csY4" fmla="*/ 348433 h 2447820"/>
              <a:gd name="csX5" fmla="*/ 793503 w 1092082"/>
              <a:gd name="csY5" fmla="*/ 49853 h 2447820"/>
              <a:gd name="csX6" fmla="*/ 1092082 w 1092082"/>
              <a:gd name="csY6" fmla="*/ 3200 h 244782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092082" h="2447820">
                <a:moveTo>
                  <a:pt x="401" y="2447820"/>
                </a:moveTo>
                <a:cubicBezTo>
                  <a:pt x="-377" y="2215332"/>
                  <a:pt x="-1155" y="1982845"/>
                  <a:pt x="9731" y="1804008"/>
                </a:cubicBezTo>
                <a:cubicBezTo>
                  <a:pt x="20617" y="1625171"/>
                  <a:pt x="29948" y="1547416"/>
                  <a:pt x="65715" y="1374800"/>
                </a:cubicBezTo>
                <a:cubicBezTo>
                  <a:pt x="101482" y="1202184"/>
                  <a:pt x="157466" y="939371"/>
                  <a:pt x="224335" y="768310"/>
                </a:cubicBezTo>
                <a:cubicBezTo>
                  <a:pt x="291204" y="597249"/>
                  <a:pt x="372070" y="468176"/>
                  <a:pt x="466931" y="348433"/>
                </a:cubicBezTo>
                <a:cubicBezTo>
                  <a:pt x="561792" y="228690"/>
                  <a:pt x="689311" y="107392"/>
                  <a:pt x="793503" y="49853"/>
                </a:cubicBezTo>
                <a:cubicBezTo>
                  <a:pt x="897695" y="-7686"/>
                  <a:pt x="994888" y="-2243"/>
                  <a:pt x="1092082" y="3200"/>
                </a:cubicBezTo>
              </a:path>
            </a:pathLst>
          </a:custGeom>
          <a:noFill/>
          <a:ln w="19050">
            <a:tailEnd type="stealth" w="lg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34964705-2D76-065C-DF82-F9DA79FF7DBF}"/>
              </a:ext>
            </a:extLst>
          </p:cNvPr>
          <p:cNvSpPr/>
          <p:nvPr/>
        </p:nvSpPr>
        <p:spPr>
          <a:xfrm>
            <a:off x="10273004" y="662473"/>
            <a:ext cx="887874" cy="1147666"/>
          </a:xfrm>
          <a:custGeom>
            <a:avLst/>
            <a:gdLst>
              <a:gd name="csX0" fmla="*/ 0 w 887874"/>
              <a:gd name="csY0" fmla="*/ 0 h 1147666"/>
              <a:gd name="csX1" fmla="*/ 569167 w 887874"/>
              <a:gd name="csY1" fmla="*/ 93307 h 1147666"/>
              <a:gd name="csX2" fmla="*/ 839755 w 887874"/>
              <a:gd name="csY2" fmla="*/ 363894 h 1147666"/>
              <a:gd name="csX3" fmla="*/ 886408 w 887874"/>
              <a:gd name="csY3" fmla="*/ 1147666 h 114766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887874" h="1147666">
                <a:moveTo>
                  <a:pt x="0" y="0"/>
                </a:moveTo>
                <a:cubicBezTo>
                  <a:pt x="214604" y="16329"/>
                  <a:pt x="429208" y="32658"/>
                  <a:pt x="569167" y="93307"/>
                </a:cubicBezTo>
                <a:cubicBezTo>
                  <a:pt x="709126" y="153956"/>
                  <a:pt x="786881" y="188167"/>
                  <a:pt x="839755" y="363894"/>
                </a:cubicBezTo>
                <a:cubicBezTo>
                  <a:pt x="892629" y="539621"/>
                  <a:pt x="889518" y="843643"/>
                  <a:pt x="886408" y="1147666"/>
                </a:cubicBezTo>
              </a:path>
            </a:pathLst>
          </a:custGeom>
          <a:noFill/>
          <a:ln w="19050">
            <a:tailEnd type="stealth" w="lg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FC53CB78-61FA-FCE1-994B-1EE035B79EE6}"/>
              </a:ext>
            </a:extLst>
          </p:cNvPr>
          <p:cNvCxnSpPr>
            <a:cxnSpLocks/>
          </p:cNvCxnSpPr>
          <p:nvPr/>
        </p:nvCxnSpPr>
        <p:spPr>
          <a:xfrm>
            <a:off x="3275332" y="218844"/>
            <a:ext cx="6027288" cy="0"/>
          </a:xfrm>
          <a:prstGeom prst="straightConnector1">
            <a:avLst/>
          </a:prstGeom>
          <a:ln w="15875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699888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alatino">
      <a:majorFont>
        <a:latin typeface="Palatino Linotype"/>
        <a:ea typeface=""/>
        <a:cs typeface=""/>
      </a:majorFont>
      <a:minorFont>
        <a:latin typeface="Palatino Linotyp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9A158677-EFF6-41A6-BEFF-5C61186908FB}" vid="{ADD4B946-6810-4BB4-A465-BC6F56A97C8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213</TotalTime>
  <Words>31</Words>
  <Application>Microsoft Office PowerPoint</Application>
  <PresentationFormat>Widescreen</PresentationFormat>
  <Paragraphs>14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Palatino Linotype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Jonathan Morgan</dc:creator>
  <cp:lastModifiedBy>Jonathan Morgan</cp:lastModifiedBy>
  <cp:revision>1</cp:revision>
  <cp:lastPrinted>2026-05-21T20:31:08Z</cp:lastPrinted>
  <dcterms:created xsi:type="dcterms:W3CDTF">2026-05-21T17:56:13Z</dcterms:created>
  <dcterms:modified xsi:type="dcterms:W3CDTF">2026-05-21T21:29:43Z</dcterms:modified>
</cp:coreProperties>
</file>